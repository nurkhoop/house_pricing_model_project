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Нурхан: представляемся, тема — предсказание цены квартиры в Астане. Кратко: взяли объявления с Krisha.kz, прошли весь ML-воркфлоу, лучшая модель ошибается в среднем на 12%.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Нурхан: задача регрессии, целевая переменная price, моделируем log1p(price) из-за скошенности. Критерий успеха: модель должна явно побить медианный бейзлайн и достичь MedAPE около 15% или ниже.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Бахытжан: датасет с Kaggle (автор turarr), объявления Krisha.kz, март 2026. 5003 строки, 23 колонки. Важно: это цены предложения, а не сделки, есть дубликаты и опечатки продавцов.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Нурхан: пошаговая чистка. Типы и колонки, дубликаты (834 после удаления url/title/address), диапазоны, обрезка цен по 1–99 перцентилю. Каждый шаг в ноутбуке печатает, что было найдено и что сделано.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Бахытжан: цена сильно скошена вправо (skew 1.95), после логарифма 0.50 — поэтому моделируем log1p(price). Площадь явно связана с ценой, но разброс растёт, значит нужны ещё район и качество.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Нурхан: районы отличаются и медианой, и разбросом — Есиль самый дорогой. Тепловая карта показывает корреляции и избыточность (площадь/комнаты). Все графики в ноутбуке.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Бахытжан: пять новых признаков с обоснованием. Пропуски появились после чистки (потолки и год постройки), их заполняет пайплайн: медиана для чисел, мода для категорий. Масштабирование и one-hot тоже внутри пайплайна.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Нурхан: сплит 70/15/15 до любой предобработки; стратификация через квантильные корзины log-цены. Имьютер, скейлер и энкодер — внутри Pipeline, поэтому учатся только на train. Тест используем один раз.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Бахытжан: бейзлайн — медиана, MedAPE 33.9%. Линейная регрессия лучшая: RMSE 0.191, R² 0.853, MedAPE 11.2%. KNN на train даёт R² = 1.0 — явное переобучение, на валидации хуже. Дерево тоже переобучается сильнее линейной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Нурхан: 5-fold CV на train: линейная 0.219, дерево 0.215, KNN 0.231, бейзлайн 0.509. GridSearchCV подобрал max_depth=12, min_samples_leaf=10 для дерева и k=9, distance, euclidean для KNN. Кривые валидации показывают, где начинается переобучение.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Бахытжан: лучшая модель — линейная регрессия. Ошибка растёт в топ-20% дорогих квартир (15.0%), в остальных сегментах 9.7–11.1%. По районам лучше всего Сарыарка (9.7%), хуже всего Байконур (14.9%). Тест использовали один раз: RMSE 0.205, R² 0.838, MedAPE 12.0%.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Вместе: вывод — линейная регрессия бьёт бейзлайн (MedAPE 12.0% против 33.9%), критерий ≤15% выполнен. Открытые проблемы: цены предложения, near-duplicates, ЖК с большой кардинальностью, дорогие квартиры. План: Random Forest, Gradient Boosting, расстояние до центра, агрегаты по ЖК на train-фолдах. Нурхан: данные, чистка, признаки, структура ноутбука. Бахытжан: модели, оценка, анализ ошибок, презентация. Оба выступают.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840480" cy="3840480"/>
          </a:xfrm>
          <a:prstGeom prst="ellipse">
            <a:avLst/>
          </a:prstGeom>
          <a:solidFill>
            <a:srgbClr val="00AFCA">
              <a:alpha val="25000"/>
            </a:srgbClr>
          </a:solidFill>
          <a:ln w="12700">
            <a:solidFill>
              <a:srgbClr val="00AFC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2926080"/>
            <a:ext cx="2377440" cy="2377440"/>
          </a:xfrm>
          <a:prstGeom prst="ellipse">
            <a:avLst/>
          </a:prstGeom>
          <a:solidFill>
            <a:srgbClr val="FEC50C">
              <a:alpha val="30000"/>
            </a:srgbClr>
          </a:solidFill>
          <a:ln w="12700">
            <a:solidFill>
              <a:srgbClr val="FEC50C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31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EC5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ALGORITHMS · MIDTERM DEFENSE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Astana Apartment Price Prediction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on 4,086 cleaned Krisha.kz listings: from raw ads to a model with 12% median error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Nurkhan Kuanyshov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Bakytzhan Jangazy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SE-2431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and success criterion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45720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4,086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listings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0" y="9144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56032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66344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log1p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target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91440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766560" y="1005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15%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median % error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14884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4008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question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6517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the asking price of an apartment in Astana from area, rooms, district, floor, building age, coordinates and amenities?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regression.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(KZT), modelled as log1p(price) because it is right-skewed (skew 1.95 → 0.50).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663440" y="2148840"/>
            <a:ext cx="402336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484632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measure success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846320" y="265176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log scale: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MAE, R².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tenge: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and median absolute percentage error (MedAPE), easy to explain to a buyer.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Criterion: 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must clearly beat the median-price baseline; best model should reach MedAPE ≈ 15% or lower.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Astana Real Estate (Krisha.kz)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and size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1732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Kaggle, Astana Real Estate Dataset by turarr (kaggle.com/datasets/turarr/astana-real-estate-dataset).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 ads scraped from Krisha.kz, current as of March 2026.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5,003 rows × 23 columns, no missing values in raw data.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 to 33.9B KZT before cleaning, so extreme outliers are present.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in KZT; 4,086 rows remain after cleaning.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9144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84632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(23 columns)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&amp; floors: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area_m2, rooms, current_floor, total_floors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district, residential_complex, apartment / district lat-lon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condition, furnished, bathroom, parking, security, ceiling height, building type, build year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2926080"/>
            <a:ext cx="4023360" cy="1691640"/>
          </a:xfrm>
          <a:prstGeom prst="roundRect">
            <a:avLst>
              <a:gd name="adj" fmla="val 4324"/>
            </a:avLst>
          </a:prstGeom>
          <a:solidFill>
            <a:srgbClr val="FFF6D6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84632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issues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333756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Asking, not sale prices: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negotiation margin.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829 exact duplicate rows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(same ad posted repeatedly).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Seller-typed values: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 in ceiling height (up to 27 m) and build year (up to 2028).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cleaning: 5,003 → 4,086 listings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457200" y="1005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5,003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listings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C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291840" y="91440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291840" y="1005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4,169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removing 834 duplicates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852160" y="1234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B7C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126480" y="91440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126480" y="1005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4,086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600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range rules and 1–99% price trim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2377440"/>
            <a:ext cx="41148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did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78892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columns that hold numbers converted to numeric.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Dropped: 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url, title, address (identifiers / near-unique text); any price-like column would be removed to avoid target leakage.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Duplicates: 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834 rows removed after dropping identifiers.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754880" y="2377440"/>
            <a:ext cx="39319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93776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 rules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937760" y="27889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Area: 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10–500 m²; rooms 1–10.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Floors: 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≤ floor ≤ total_floors.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year: 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1900–2029, else set to missing; ceiling 2.0–6.0 m else missing.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1st–99th percentile (13.5M–185M KZT); 83 rows removed.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(1/2): target distribution and area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41148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img/cell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06594"/>
            <a:ext cx="3840480" cy="15072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260604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40080" y="26060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1.95  </a:t>
            </a:r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skew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2560320" y="26060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256032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  </a:t>
            </a:r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after log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is right-skewed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3703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listings are low to mid priced, with a long tail of premium flats. We model log1p(price) to get a near-symmetric target.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754880" y="914400"/>
            <a:ext cx="393192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4" name="Image 1" descr="img/cell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7676" y="1005840"/>
            <a:ext cx="3266328" cy="24688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93776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drives price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937760" y="3886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flats cost more, but the spread widens with size: area alone is not enough, location and quality are needed.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(2/2): districts and correlations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448056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img/cell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278" y="960120"/>
            <a:ext cx="3686404" cy="2514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by district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8862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Esil is clearly the most expensive district; all have long upper tails. District stays as a categorical feature.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120640" y="914400"/>
            <a:ext cx="3566160" cy="370332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0" name="Image 1" descr="img/cell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082" y="960120"/>
            <a:ext cx="2889275" cy="2514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30352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matrix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5303520" y="38862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and rooms are strongly related; coordinates and age add signal. Checked before modelling.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and missing values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4572000" cy="370332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051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features (each justified)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1732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house_age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2026 − build year: age is more meaningful than the raw year.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is_first_floor, is_last_floor: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and last floors form cheaper / special segments.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floor_ratio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floor / total floors: relative position in the building.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area_per_room 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area / rooms: separates compact from spacious layouts.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337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inside the pipeline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657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Numeric: median imputer + StandardScaler (14 columns).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most-frequent imputer + OneHotEncoder, rare categories grouped (9 columns).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212080" y="914400"/>
            <a:ext cx="3474720" cy="37033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0" descr="img/cell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40551"/>
            <a:ext cx="3291840" cy="21251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missing values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394960" y="36118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ceiling_height has gaps (about 0.1% of rows), created by our 2.0–6.0 m range rule. Imputed in the pipeline, fitted on train only.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strategy and leakage control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4480560" cy="1005840"/>
          </a:xfrm>
          <a:prstGeom prst="roundRect">
            <a:avLst>
              <a:gd name="adj" fmla="val 7273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960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2,860 (70%)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0" y="9601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0AFCA"/>
          </a:solidFill>
          <a:ln w="12700">
            <a:solidFill>
              <a:srgbClr val="00AFC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029200" y="960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613 (15%)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040880" y="9601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EC50C"/>
          </a:solidFill>
          <a:ln w="12700">
            <a:solidFill>
              <a:srgbClr val="FEC50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40880" y="9601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613 (15%)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2194560"/>
            <a:ext cx="411480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split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69748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seed: 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= 42, reproducible.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Stratified: 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quantile bins of log-price, so cheap, mid and expensive flats appear in every split.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first, then impute, scale, encode.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Sizes: 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2,860 train / 613 validation / 613 test.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754880" y="2194560"/>
            <a:ext cx="39319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93776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leakage is avoided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937760" y="26974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Imputer, scaler and encoder live in a Pipeline: fitted on train (and train folds in CV) only.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Price-like columns removed, since they are computed from the target.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uses train CV only; test used once at the end.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and lecture models (validation)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49377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640080"/>
                <a:gridCol w="868680"/>
                <a:gridCol w="9601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KZT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(median)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17.9M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5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(tuned)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(tuned)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336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2834640"/>
            <a:ext cx="4937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64008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see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2461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wins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validation and generalises (val RMSE 0.191 &lt; train 0.203).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overfits: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 = 1.00 vs val 0.80 with 7 neighbours.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baseline error by about two thirds.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helped little: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val RMSE 0.216 → 0.218; CV is the safer guide.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577840" y="914400"/>
            <a:ext cx="3108960" cy="37033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623560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MedAPE, %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793296" y="1726123"/>
            <a:ext cx="414909" cy="2553269"/>
          </a:xfrm>
          <a:prstGeom prst="rect">
            <a:avLst/>
          </a:prstGeom>
          <a:solidFill>
            <a:srgbClr val="5B6B7C"/>
          </a:solidFill>
          <a:ln w="12700">
            <a:solidFill>
              <a:srgbClr val="5B6B7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610416" y="1479235"/>
            <a:ext cx="78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33.9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4315968"/>
            <a:ext cx="754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547676" y="3435834"/>
            <a:ext cx="414909" cy="843558"/>
          </a:xfrm>
          <a:prstGeom prst="rect">
            <a:avLst/>
          </a:prstGeom>
          <a:solidFill>
            <a:srgbClr val="00AFCA"/>
          </a:solidFill>
          <a:ln w="12700">
            <a:solidFill>
              <a:srgbClr val="00AFC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364796" y="3188946"/>
            <a:ext cx="78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377940" y="4315968"/>
            <a:ext cx="754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302056" y="3315326"/>
            <a:ext cx="414909" cy="964066"/>
          </a:xfrm>
          <a:prstGeom prst="rect">
            <a:avLst/>
          </a:prstGeom>
          <a:solidFill>
            <a:srgbClr val="7FB7C9"/>
          </a:solidFill>
          <a:ln w="12700">
            <a:solidFill>
              <a:srgbClr val="7FB7C9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119176" y="3068438"/>
            <a:ext cx="78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132320" y="4315968"/>
            <a:ext cx="754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056436" y="3270135"/>
            <a:ext cx="414909" cy="1009257"/>
          </a:xfrm>
          <a:prstGeom prst="rect">
            <a:avLst/>
          </a:prstGeom>
          <a:solidFill>
            <a:srgbClr val="7FB7C9"/>
          </a:solidFill>
          <a:ln w="12700">
            <a:solidFill>
              <a:srgbClr val="7FB7C9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873556" y="3023247"/>
            <a:ext cx="7806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886700" y="4315968"/>
            <a:ext cx="7543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715000" y="4279392"/>
            <a:ext cx="2834640" cy="0"/>
          </a:xfrm>
          <a:prstGeom prst="line">
            <a:avLst/>
          </a:prstGeom>
          <a:noFill/>
          <a:ln w="12700">
            <a:solidFill>
              <a:srgbClr val="9AA8B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 and hyperparameter tuning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5-fold CV on train (RMSE log)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258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0.509 ± 0.013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0.219 ± 0.031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0.215 ± 0.015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0.231 ± 0.009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91440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84632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GridSearchCV (5-fold, train only)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3258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Tree: 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12, min_samples_leaf = 10 (CV RMSE 0.2152).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 </a:t>
            </a:r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9, weights = distance, euclidean (CV RMSE 0.2308).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" y="2880360"/>
            <a:ext cx="8229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12" name="Image 0" descr="img/cell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031" y="2926080"/>
            <a:ext cx="4531218" cy="16459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0352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curves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303520" y="33375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Tree: train error keeps falling with depth while CV error flattens after depth ≈ 7–10, so deeper trees only overfit. KNN: train error is 0 with distance weights; CV error is lowest at small k (≈ 9).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 and final test result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914400"/>
            <a:ext cx="5852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img/cell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99512"/>
            <a:ext cx="5760720" cy="179573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92240" y="914400"/>
            <a:ext cx="21945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6629400" y="1005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plots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629400" y="132588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follow the diagonal; residuals centre on 0. Outliers remain, e.g. a 107M flat predicted at 240M. Best district: Saryarka (9.7%).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57200" y="301752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502920" y="3081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% error by price segment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88086" y="3828288"/>
            <a:ext cx="452628" cy="469392"/>
          </a:xfrm>
          <a:prstGeom prst="rect">
            <a:avLst/>
          </a:prstGeom>
          <a:solidFill>
            <a:srgbClr val="00AFCA"/>
          </a:solidFill>
          <a:ln w="12700">
            <a:solidFill>
              <a:srgbClr val="00AFC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05206" y="3581400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" y="43342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511046" y="3864051"/>
            <a:ext cx="452628" cy="433629"/>
          </a:xfrm>
          <a:prstGeom prst="rect">
            <a:avLst/>
          </a:prstGeom>
          <a:solidFill>
            <a:srgbClr val="00AFCA"/>
          </a:solidFill>
          <a:ln w="12700">
            <a:solidFill>
              <a:srgbClr val="00AFC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328166" y="3617163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325880" y="43342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334006" y="3801466"/>
            <a:ext cx="452628" cy="496214"/>
          </a:xfrm>
          <a:prstGeom prst="rect">
            <a:avLst/>
          </a:prstGeom>
          <a:solidFill>
            <a:srgbClr val="00AFCA"/>
          </a:solidFill>
          <a:ln w="12700">
            <a:solidFill>
              <a:srgbClr val="00AFCA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151126" y="355457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2148840" y="43342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156966" y="3801466"/>
            <a:ext cx="452628" cy="496214"/>
          </a:xfrm>
          <a:prstGeom prst="rect">
            <a:avLst/>
          </a:prstGeom>
          <a:solidFill>
            <a:srgbClr val="00AFCA"/>
          </a:solidFill>
          <a:ln w="12700">
            <a:solidFill>
              <a:srgbClr val="00AFC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2974086" y="3554578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11.1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2971800" y="43342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979926" y="3627120"/>
            <a:ext cx="452628" cy="670560"/>
          </a:xfrm>
          <a:prstGeom prst="rect">
            <a:avLst/>
          </a:prstGeom>
          <a:solidFill>
            <a:srgbClr val="FEC50C"/>
          </a:solidFill>
          <a:ln w="12700">
            <a:solidFill>
              <a:srgbClr val="FEC50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797046" y="3380232"/>
            <a:ext cx="81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3794760" y="43342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94360" y="4297680"/>
            <a:ext cx="3931920" cy="0"/>
          </a:xfrm>
          <a:prstGeom prst="line">
            <a:avLst/>
          </a:prstGeom>
          <a:noFill/>
          <a:ln w="12700">
            <a:solidFill>
              <a:srgbClr val="9AA8B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846320" y="301752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4846320" y="3108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8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12.0%</a:t>
            </a:r>
            <a:endParaRPr lang="en-US" sz="2600" dirty="0"/>
          </a:p>
        </p:txBody>
      </p:sp>
      <p:sp>
        <p:nvSpPr>
          <p:cNvPr id="30" name="Text 26"/>
          <p:cNvSpPr txBox="1"/>
          <p:nvPr/>
        </p:nvSpPr>
        <p:spPr>
          <a:xfrm>
            <a:off x="4937760" y="3611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MedAPE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126480" y="301752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6126480" y="3108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0.838</a:t>
            </a:r>
            <a:endParaRPr lang="en-US" sz="2600" dirty="0"/>
          </a:p>
        </p:txBody>
      </p:sp>
      <p:sp>
        <p:nvSpPr>
          <p:cNvPr id="33" name="Text 29"/>
          <p:cNvSpPr txBox="1"/>
          <p:nvPr/>
        </p:nvSpPr>
        <p:spPr>
          <a:xfrm>
            <a:off x="6217920" y="36118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7406640" y="3017520"/>
            <a:ext cx="1280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5" name="Text 31"/>
          <p:cNvSpPr txBox="1"/>
          <p:nvPr/>
        </p:nvSpPr>
        <p:spPr>
          <a:xfrm>
            <a:off x="7406640" y="31089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7.5M</a:t>
            </a:r>
            <a:endParaRPr lang="en-US" sz="2600" dirty="0"/>
          </a:p>
        </p:txBody>
      </p:sp>
      <p:sp>
        <p:nvSpPr>
          <p:cNvPr id="36" name="Text 32"/>
          <p:cNvSpPr txBox="1"/>
          <p:nvPr/>
        </p:nvSpPr>
        <p:spPr>
          <a:xfrm>
            <a:off x="7498080" y="3611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MAE, KZT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846320" y="416052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FF6D6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Text 34"/>
          <p:cNvSpPr txBox="1"/>
          <p:nvPr/>
        </p:nvSpPr>
        <p:spPr>
          <a:xfrm>
            <a:off x="4937760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Regression, trained on train+val, test used once. Worst district: Baikonur (14.9%).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Conclusions, plan for the final and team contributions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32104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0A2540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94360" y="941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C5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26187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Regression: MedAPE 12.0% vs 33.9% baseline.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criterion (≈15%) is met.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91840" y="868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3429000" y="941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problems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126187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prices, not sale prices.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Near-duplicates; complexes with high cardinality; luxury flats (15% error).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26480" y="868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263640" y="941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F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for the final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1261872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Gradient Boosting.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centre; complex statistics from train folds; feature importance.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contributions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57200" y="269748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94360" y="2807208"/>
            <a:ext cx="548640" cy="548640"/>
          </a:xfrm>
          <a:prstGeom prst="ellipse">
            <a:avLst/>
          </a:prstGeom>
          <a:solidFill>
            <a:srgbClr val="00AFCA"/>
          </a:solidFill>
          <a:ln w="12700">
            <a:solidFill>
              <a:srgbClr val="00AFC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NK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28072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Nurkhan Kuanyshov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features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456432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and first look at the 5,003 × 23 table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types, duplicates, ranges, outliers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engineered features (age, floor flags, ratios)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structure and README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663440" y="269748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CE6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00600" y="2807208"/>
            <a:ext cx="548640" cy="548640"/>
          </a:xfrm>
          <a:prstGeom prst="ellipse">
            <a:avLst/>
          </a:prstGeom>
          <a:solidFill>
            <a:srgbClr val="FEC50C"/>
          </a:solidFill>
          <a:ln w="12700">
            <a:solidFill>
              <a:srgbClr val="FEC50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00600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BJ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0" y="28072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Bakytzhan Jangazy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and evaluation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846320" y="3456432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Baseline, Linear Regression, Decision Tree, KNN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and GridSearchCV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error analysis by price segment and district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233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preparation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Astana Apartment Price Prediction</dc:title>
  <dc:subject>PptxGenJS Presentation</dc:subject>
  <dc:creator>PptxGenJS</dc:creator>
  <cp:lastModifiedBy>PptxGenJS</cp:lastModifiedBy>
  <cp:revision>1</cp:revision>
  <dcterms:created xsi:type="dcterms:W3CDTF">2026-10-08T19:09:14Z</dcterms:created>
  <dcterms:modified xsi:type="dcterms:W3CDTF">2026-10-08T19:09:14Z</dcterms:modified>
</cp:coreProperties>
</file>